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Open Sans Bold" charset="1" panose="020B0806030504020204"/>
      <p:regular r:id="rId16"/>
    </p:embeddedFont>
    <p:embeddedFont>
      <p:font typeface="Open Sans" charset="1" panose="020B06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https://drive.google.com/drive/folders/1ZYYgYHxB37od5wqAlZ-XTPpRaH6xnORJ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https://drive.google.com/drive/folders/1WKOpT3rHYnw0l3pttecY-kBQ71z45pNP" TargetMode="External" Type="http://schemas.openxmlformats.org/officeDocument/2006/relationships/hyperlink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https://drive.google.com/drive/folders/1JUc0Yzq7B2GvGGf1R5lIUAypbnqj6fZ4" TargetMode="External" Type="http://schemas.openxmlformats.org/officeDocument/2006/relationships/hyperlink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0916" y="-4375722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0" y="0"/>
                </a:lnTo>
                <a:lnTo>
                  <a:pt x="13131090" y="13131090"/>
                </a:lnTo>
                <a:lnTo>
                  <a:pt x="0" y="1313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93035" y="-4375722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3498" y="-2726185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47701" y="8252437"/>
            <a:ext cx="17192598" cy="5432955"/>
            <a:chOff x="0" y="0"/>
            <a:chExt cx="4528092" cy="14309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8091" cy="1430902"/>
            </a:xfrm>
            <a:custGeom>
              <a:avLst/>
              <a:gdLst/>
              <a:ahLst/>
              <a:cxnLst/>
              <a:rect r="r" b="b" t="t" l="l"/>
              <a:pathLst>
                <a:path h="1430902" w="4528091">
                  <a:moveTo>
                    <a:pt x="13959" y="0"/>
                  </a:moveTo>
                  <a:lnTo>
                    <a:pt x="4514132" y="0"/>
                  </a:lnTo>
                  <a:cubicBezTo>
                    <a:pt x="4517834" y="0"/>
                    <a:pt x="4521385" y="1471"/>
                    <a:pt x="4524003" y="4089"/>
                  </a:cubicBezTo>
                  <a:cubicBezTo>
                    <a:pt x="4526621" y="6707"/>
                    <a:pt x="4528091" y="10257"/>
                    <a:pt x="4528091" y="13959"/>
                  </a:cubicBezTo>
                  <a:lnTo>
                    <a:pt x="4528091" y="1416942"/>
                  </a:lnTo>
                  <a:cubicBezTo>
                    <a:pt x="4528091" y="1424652"/>
                    <a:pt x="4521841" y="1430902"/>
                    <a:pt x="4514132" y="1430902"/>
                  </a:cubicBezTo>
                  <a:lnTo>
                    <a:pt x="13959" y="1430902"/>
                  </a:lnTo>
                  <a:cubicBezTo>
                    <a:pt x="6250" y="1430902"/>
                    <a:pt x="0" y="1424652"/>
                    <a:pt x="0" y="1416942"/>
                  </a:cubicBezTo>
                  <a:lnTo>
                    <a:pt x="0" y="13959"/>
                  </a:lnTo>
                  <a:cubicBezTo>
                    <a:pt x="0" y="6250"/>
                    <a:pt x="6250" y="0"/>
                    <a:pt x="13959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28092" cy="1469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41285" y="1270757"/>
            <a:ext cx="12265511" cy="243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1"/>
              </a:lnSpc>
            </a:pPr>
            <a:r>
              <a:rPr lang="en-US" sz="134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1285" y="3396803"/>
            <a:ext cx="10497217" cy="193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1"/>
              </a:lnSpc>
            </a:pPr>
            <a:r>
              <a:rPr lang="en-US" sz="10708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de Resultados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924732"/>
            <a:ext cx="11690017" cy="96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51"/>
              </a:lnSpc>
            </a:pPr>
            <a:r>
              <a:rPr lang="en-US" sz="53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PROYECTO: Testing App Tiktok Lite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8364843"/>
            <a:ext cx="11690017" cy="63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31"/>
              </a:lnSpc>
            </a:pPr>
            <a:r>
              <a:rPr lang="en-US" sz="3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144000"/>
            <a:ext cx="11690017" cy="76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51"/>
              </a:lnSpc>
            </a:pPr>
            <a:r>
              <a:rPr lang="en-US" sz="43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41119" y="-6863459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0" y="0"/>
                </a:lnTo>
                <a:lnTo>
                  <a:pt x="13131090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93035" y="-4375722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3498" y="-2726185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5288" y="9258300"/>
            <a:ext cx="17192598" cy="1625273"/>
            <a:chOff x="0" y="0"/>
            <a:chExt cx="4528092" cy="4280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8091" cy="428055"/>
            </a:xfrm>
            <a:custGeom>
              <a:avLst/>
              <a:gdLst/>
              <a:ahLst/>
              <a:cxnLst/>
              <a:rect r="r" b="b" t="t" l="l"/>
              <a:pathLst>
                <a:path h="428055" w="4528091">
                  <a:moveTo>
                    <a:pt x="13959" y="0"/>
                  </a:moveTo>
                  <a:lnTo>
                    <a:pt x="4514132" y="0"/>
                  </a:lnTo>
                  <a:cubicBezTo>
                    <a:pt x="4517834" y="0"/>
                    <a:pt x="4521385" y="1471"/>
                    <a:pt x="4524003" y="4089"/>
                  </a:cubicBezTo>
                  <a:cubicBezTo>
                    <a:pt x="4526621" y="6707"/>
                    <a:pt x="4528091" y="10257"/>
                    <a:pt x="4528091" y="13959"/>
                  </a:cubicBezTo>
                  <a:lnTo>
                    <a:pt x="4528091" y="414096"/>
                  </a:lnTo>
                  <a:cubicBezTo>
                    <a:pt x="4528091" y="421806"/>
                    <a:pt x="4521841" y="428055"/>
                    <a:pt x="4514132" y="428055"/>
                  </a:cubicBezTo>
                  <a:lnTo>
                    <a:pt x="13959" y="428055"/>
                  </a:lnTo>
                  <a:cubicBezTo>
                    <a:pt x="6250" y="428055"/>
                    <a:pt x="0" y="421806"/>
                    <a:pt x="0" y="414096"/>
                  </a:cubicBezTo>
                  <a:lnTo>
                    <a:pt x="0" y="13959"/>
                  </a:lnTo>
                  <a:cubicBezTo>
                    <a:pt x="0" y="6250"/>
                    <a:pt x="6250" y="0"/>
                    <a:pt x="13959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28092" cy="46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1956" y="3868668"/>
            <a:ext cx="1563080" cy="15630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A1E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25288" y="5508753"/>
            <a:ext cx="4221768" cy="55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1"/>
              </a:lnSpc>
            </a:pPr>
            <a:r>
              <a:rPr lang="en-US" sz="30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MÓDULOS PROBADOS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160900" y="3868668"/>
            <a:ext cx="1563080" cy="15630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A1E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12604" y="5525281"/>
            <a:ext cx="3412763" cy="55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1"/>
              </a:lnSpc>
            </a:pPr>
            <a:r>
              <a:rPr lang="en-US" sz="30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TIPOS DE PRUEBA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532206" y="3868668"/>
            <a:ext cx="1563080" cy="156308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A1E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341119" y="5525281"/>
            <a:ext cx="5037435" cy="55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1"/>
              </a:lnSpc>
            </a:pPr>
            <a:r>
              <a:rPr lang="en-US" sz="30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HERRAMIENTAS UTILIZADAS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471897" y="3868668"/>
            <a:ext cx="1563080" cy="156308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A1E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245329" y="5525281"/>
            <a:ext cx="2317005" cy="55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1"/>
              </a:lnSpc>
            </a:pPr>
            <a:r>
              <a:rPr lang="en-US" sz="30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DURACIÓN</a:t>
            </a:r>
          </a:p>
        </p:txBody>
      </p:sp>
      <p:sp>
        <p:nvSpPr>
          <p:cNvPr name="AutoShape 32" id="32"/>
          <p:cNvSpPr/>
          <p:nvPr/>
        </p:nvSpPr>
        <p:spPr>
          <a:xfrm>
            <a:off x="7723980" y="4650208"/>
            <a:ext cx="2922105" cy="275439"/>
          </a:xfrm>
          <a:prstGeom prst="line">
            <a:avLst/>
          </a:prstGeom>
          <a:ln cap="flat" w="123825">
            <a:solidFill>
              <a:srgbClr val="9CA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3005035" y="4650208"/>
            <a:ext cx="3155864" cy="0"/>
          </a:xfrm>
          <a:prstGeom prst="line">
            <a:avLst/>
          </a:prstGeom>
          <a:ln cap="flat" w="123825">
            <a:solidFill>
              <a:srgbClr val="9CA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2089464" y="4650208"/>
            <a:ext cx="3261103" cy="0"/>
          </a:xfrm>
          <a:prstGeom prst="line">
            <a:avLst/>
          </a:prstGeom>
          <a:ln cap="flat" w="123825">
            <a:solidFill>
              <a:srgbClr val="9CA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5412604" y="6200957"/>
            <a:ext cx="3412763" cy="45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Pruebas funcionales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07364" y="6220315"/>
            <a:ext cx="4178202" cy="183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5"/>
              </a:lnSpc>
            </a:pPr>
            <a:r>
              <a:rPr lang="en-US" sz="2625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OS Android</a:t>
            </a:r>
          </a:p>
          <a:p>
            <a:pPr algn="just">
              <a:lnSpc>
                <a:spcPts val="3675"/>
              </a:lnSpc>
            </a:pPr>
            <a:r>
              <a:rPr lang="en-US" sz="2625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Hojas de calculo-Google</a:t>
            </a:r>
          </a:p>
          <a:p>
            <a:pPr algn="just">
              <a:lnSpc>
                <a:spcPts val="3675"/>
              </a:lnSpc>
            </a:pPr>
            <a:r>
              <a:rPr lang="en-US" sz="2625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Documentos-Google</a:t>
            </a:r>
          </a:p>
          <a:p>
            <a:pPr algn="just">
              <a:lnSpc>
                <a:spcPts val="3675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5549128" y="6351537"/>
            <a:ext cx="1709406" cy="91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12 horas</a:t>
            </a:r>
          </a:p>
          <a:p>
            <a:pPr algn="just">
              <a:lnSpc>
                <a:spcPts val="3671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4468178" y="207993"/>
            <a:ext cx="10278371" cy="146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true">
                <a:solidFill>
                  <a:srgbClr val="0812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Alcance y contexto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7114" y="6220315"/>
            <a:ext cx="3412763" cy="137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Interacciones(likes, comentarios), Perfil del usuario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02211" y="1779123"/>
            <a:ext cx="14501620" cy="21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1"/>
              </a:lnSpc>
            </a:pPr>
            <a:r>
              <a:rPr lang="en-US" sz="30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Se probó Visualización, Interacción básica, Validaciones.</a:t>
            </a:r>
          </a:p>
          <a:p>
            <a:pPr algn="just">
              <a:lnSpc>
                <a:spcPts val="4231"/>
              </a:lnSpc>
            </a:pPr>
            <a:r>
              <a:rPr lang="en-US" sz="30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Se dejó de lado Live, Funciones Avanzadas de Creador y pruebas no funcionales.</a:t>
            </a:r>
          </a:p>
          <a:p>
            <a:pPr algn="just">
              <a:lnSpc>
                <a:spcPts val="423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90823" y="-4396642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93035" y="-4375722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3498" y="-2726185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40701" y="8953524"/>
            <a:ext cx="17192598" cy="1333476"/>
            <a:chOff x="0" y="0"/>
            <a:chExt cx="4528092" cy="3512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8091" cy="351204"/>
            </a:xfrm>
            <a:custGeom>
              <a:avLst/>
              <a:gdLst/>
              <a:ahLst/>
              <a:cxnLst/>
              <a:rect r="r" b="b" t="t" l="l"/>
              <a:pathLst>
                <a:path h="351204" w="4528091">
                  <a:moveTo>
                    <a:pt x="13959" y="0"/>
                  </a:moveTo>
                  <a:lnTo>
                    <a:pt x="4514132" y="0"/>
                  </a:lnTo>
                  <a:cubicBezTo>
                    <a:pt x="4517834" y="0"/>
                    <a:pt x="4521385" y="1471"/>
                    <a:pt x="4524003" y="4089"/>
                  </a:cubicBezTo>
                  <a:cubicBezTo>
                    <a:pt x="4526621" y="6707"/>
                    <a:pt x="4528091" y="10257"/>
                    <a:pt x="4528091" y="13959"/>
                  </a:cubicBezTo>
                  <a:lnTo>
                    <a:pt x="4528091" y="337244"/>
                  </a:lnTo>
                  <a:cubicBezTo>
                    <a:pt x="4528091" y="344954"/>
                    <a:pt x="4521841" y="351204"/>
                    <a:pt x="4514132" y="351204"/>
                  </a:cubicBezTo>
                  <a:lnTo>
                    <a:pt x="13959" y="351204"/>
                  </a:lnTo>
                  <a:cubicBezTo>
                    <a:pt x="10257" y="351204"/>
                    <a:pt x="6707" y="349733"/>
                    <a:pt x="4089" y="347115"/>
                  </a:cubicBezTo>
                  <a:cubicBezTo>
                    <a:pt x="1471" y="344497"/>
                    <a:pt x="0" y="340946"/>
                    <a:pt x="0" y="337244"/>
                  </a:cubicBezTo>
                  <a:lnTo>
                    <a:pt x="0" y="13959"/>
                  </a:lnTo>
                  <a:cubicBezTo>
                    <a:pt x="0" y="6250"/>
                    <a:pt x="6250" y="0"/>
                    <a:pt x="13959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28092" cy="389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57138" y="1351623"/>
            <a:ext cx="12265511" cy="201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2"/>
              </a:lnSpc>
            </a:pPr>
            <a:r>
              <a:rPr lang="en-US" sz="111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138" y="2893531"/>
            <a:ext cx="10497217" cy="318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2"/>
              </a:lnSpc>
            </a:pPr>
            <a:r>
              <a:rPr lang="en-US" sz="8908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de severidad de bugs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0701" y="6220007"/>
            <a:ext cx="13550048" cy="205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Se detectó un total de 3 bugs en el proceso de testing,</a:t>
            </a:r>
          </a:p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el gráfico muestra la clasificación por severidad. Los bugs de severidad Alta se encontraron en los casos de prueba de registro con email.</a:t>
            </a:r>
          </a:p>
          <a:p>
            <a:pPr algn="just">
              <a:lnSpc>
                <a:spcPts val="4091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08428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80198" y="536305"/>
            <a:ext cx="6821102" cy="7225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90823" y="-4396642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93035" y="-4375722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3498" y="-2726185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47701" y="8909034"/>
            <a:ext cx="17192598" cy="1377966"/>
            <a:chOff x="0" y="0"/>
            <a:chExt cx="4528092" cy="362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8091" cy="362921"/>
            </a:xfrm>
            <a:custGeom>
              <a:avLst/>
              <a:gdLst/>
              <a:ahLst/>
              <a:cxnLst/>
              <a:rect r="r" b="b" t="t" l="l"/>
              <a:pathLst>
                <a:path h="362921" w="4528091">
                  <a:moveTo>
                    <a:pt x="13959" y="0"/>
                  </a:moveTo>
                  <a:lnTo>
                    <a:pt x="4514132" y="0"/>
                  </a:lnTo>
                  <a:cubicBezTo>
                    <a:pt x="4517834" y="0"/>
                    <a:pt x="4521385" y="1471"/>
                    <a:pt x="4524003" y="4089"/>
                  </a:cubicBezTo>
                  <a:cubicBezTo>
                    <a:pt x="4526621" y="6707"/>
                    <a:pt x="4528091" y="10257"/>
                    <a:pt x="4528091" y="13959"/>
                  </a:cubicBezTo>
                  <a:lnTo>
                    <a:pt x="4528091" y="348962"/>
                  </a:lnTo>
                  <a:cubicBezTo>
                    <a:pt x="4528091" y="356671"/>
                    <a:pt x="4521841" y="362921"/>
                    <a:pt x="4514132" y="362921"/>
                  </a:cubicBezTo>
                  <a:lnTo>
                    <a:pt x="13959" y="362921"/>
                  </a:lnTo>
                  <a:cubicBezTo>
                    <a:pt x="6250" y="362921"/>
                    <a:pt x="0" y="356671"/>
                    <a:pt x="0" y="348962"/>
                  </a:cubicBezTo>
                  <a:lnTo>
                    <a:pt x="0" y="13959"/>
                  </a:lnTo>
                  <a:cubicBezTo>
                    <a:pt x="0" y="6250"/>
                    <a:pt x="6250" y="0"/>
                    <a:pt x="13959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28092" cy="40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651114" y="3449522"/>
            <a:ext cx="5646593" cy="3387956"/>
          </a:xfrm>
          <a:custGeom>
            <a:avLst/>
            <a:gdLst/>
            <a:ahLst/>
            <a:cxnLst/>
            <a:rect r="r" b="b" t="t" l="l"/>
            <a:pathLst>
              <a:path h="3387956" w="5646593">
                <a:moveTo>
                  <a:pt x="0" y="0"/>
                </a:moveTo>
                <a:lnTo>
                  <a:pt x="5646593" y="0"/>
                </a:lnTo>
                <a:lnTo>
                  <a:pt x="5646593" y="3387956"/>
                </a:lnTo>
                <a:lnTo>
                  <a:pt x="0" y="3387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342489"/>
            <a:ext cx="13445711" cy="76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51"/>
              </a:lnSpc>
            </a:pPr>
            <a:r>
              <a:rPr lang="en-US" sz="43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De un total de 15 casos de prueba funcionales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658374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90823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98836" y="3912152"/>
            <a:ext cx="11821039" cy="305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33159" indent="-466580" lvl="1">
              <a:lnSpc>
                <a:spcPts val="6051"/>
              </a:lnSpc>
              <a:buFont typeface="Arial"/>
              <a:buChar char="•"/>
            </a:pPr>
            <a:r>
              <a:rPr lang="en-US" b="true" sz="4322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12 pasaron exitosamente</a:t>
            </a:r>
          </a:p>
          <a:p>
            <a:pPr algn="just" marL="933159" indent="-466580" lvl="1">
              <a:lnSpc>
                <a:spcPts val="6051"/>
              </a:lnSpc>
              <a:buFont typeface="Arial"/>
              <a:buChar char="•"/>
            </a:pPr>
            <a:r>
              <a:rPr lang="en-US" b="true" sz="4322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1 con prioridad baja</a:t>
            </a:r>
          </a:p>
          <a:p>
            <a:pPr algn="just" marL="933159" indent="-466580" lvl="1">
              <a:lnSpc>
                <a:spcPts val="6051"/>
              </a:lnSpc>
              <a:buFont typeface="Arial"/>
              <a:buChar char="•"/>
            </a:pPr>
            <a:r>
              <a:rPr lang="en-US" b="true" sz="4322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2 con prioridad alta</a:t>
            </a:r>
          </a:p>
          <a:p>
            <a:pPr algn="just">
              <a:lnSpc>
                <a:spcPts val="605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3035" y="-4375722"/>
            <a:ext cx="12102391" cy="121023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55250" y="-2638494"/>
            <a:ext cx="8803317" cy="88033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47701" y="8914635"/>
            <a:ext cx="16208667" cy="1437519"/>
            <a:chOff x="0" y="0"/>
            <a:chExt cx="4268949" cy="3786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8950" cy="378606"/>
            </a:xfrm>
            <a:custGeom>
              <a:avLst/>
              <a:gdLst/>
              <a:ahLst/>
              <a:cxnLst/>
              <a:rect r="r" b="b" t="t" l="l"/>
              <a:pathLst>
                <a:path h="378606" w="4268950">
                  <a:moveTo>
                    <a:pt x="14807" y="0"/>
                  </a:moveTo>
                  <a:lnTo>
                    <a:pt x="4254143" y="0"/>
                  </a:lnTo>
                  <a:cubicBezTo>
                    <a:pt x="4258070" y="0"/>
                    <a:pt x="4261836" y="1560"/>
                    <a:pt x="4264613" y="4337"/>
                  </a:cubicBezTo>
                  <a:cubicBezTo>
                    <a:pt x="4267390" y="7114"/>
                    <a:pt x="4268950" y="10880"/>
                    <a:pt x="4268950" y="14807"/>
                  </a:cubicBezTo>
                  <a:lnTo>
                    <a:pt x="4268950" y="363799"/>
                  </a:lnTo>
                  <a:cubicBezTo>
                    <a:pt x="4268950" y="367726"/>
                    <a:pt x="4267390" y="371492"/>
                    <a:pt x="4264613" y="374269"/>
                  </a:cubicBezTo>
                  <a:cubicBezTo>
                    <a:pt x="4261836" y="377046"/>
                    <a:pt x="4258070" y="378606"/>
                    <a:pt x="4254143" y="378606"/>
                  </a:cubicBezTo>
                  <a:lnTo>
                    <a:pt x="14807" y="378606"/>
                  </a:lnTo>
                  <a:cubicBezTo>
                    <a:pt x="6629" y="378606"/>
                    <a:pt x="0" y="371977"/>
                    <a:pt x="0" y="363799"/>
                  </a:cubicBezTo>
                  <a:lnTo>
                    <a:pt x="0" y="14807"/>
                  </a:lnTo>
                  <a:cubicBezTo>
                    <a:pt x="0" y="6629"/>
                    <a:pt x="6629" y="0"/>
                    <a:pt x="14807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68949" cy="416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62221" y="0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>
            <a:hlinkClick r:id="rId6" tooltip="https://drive.google.com/drive/folders/1ZYYgYHxB37od5wqAlZ-XTPpRaH6xnORJ"/>
          </p:cNvPr>
          <p:cNvSpPr/>
          <p:nvPr/>
        </p:nvSpPr>
        <p:spPr>
          <a:xfrm flipH="false" flipV="false" rot="0">
            <a:off x="4599577" y="5212348"/>
            <a:ext cx="2514321" cy="2514321"/>
          </a:xfrm>
          <a:custGeom>
            <a:avLst/>
            <a:gdLst/>
            <a:ahLst/>
            <a:cxnLst/>
            <a:rect r="r" b="b" t="t" l="l"/>
            <a:pathLst>
              <a:path h="2514321" w="2514321">
                <a:moveTo>
                  <a:pt x="0" y="0"/>
                </a:moveTo>
                <a:lnTo>
                  <a:pt x="2514321" y="0"/>
                </a:lnTo>
                <a:lnTo>
                  <a:pt x="2514321" y="2514320"/>
                </a:lnTo>
                <a:lnTo>
                  <a:pt x="0" y="25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7701" y="1424179"/>
            <a:ext cx="13991811" cy="103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Defecto Reportado: </a:t>
            </a: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Al presionar el corazón, el contador de "Me Gusta" no se muestra claramente o su actualización es lenta/invisible.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658374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90823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2430" y="3102624"/>
            <a:ext cx="12502353" cy="154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Falta de Feedback Instantáneo: El usuario no tiene confirmación inmediata de que su acción (el like) fue registrada exitosamente, lo que puede llevar a clics dobles innecesarios.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2354" y="6088623"/>
            <a:ext cx="5216938" cy="51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←   Link de evidencia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40626" y="-4690175"/>
            <a:ext cx="12102391" cy="121023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30890" y="-2857730"/>
            <a:ext cx="8803317" cy="88033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9193" y="8755368"/>
            <a:ext cx="16004244" cy="1556169"/>
            <a:chOff x="0" y="0"/>
            <a:chExt cx="4215109" cy="409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5109" cy="409855"/>
            </a:xfrm>
            <a:custGeom>
              <a:avLst/>
              <a:gdLst/>
              <a:ahLst/>
              <a:cxnLst/>
              <a:rect r="r" b="b" t="t" l="l"/>
              <a:pathLst>
                <a:path h="409855" w="4215109">
                  <a:moveTo>
                    <a:pt x="14996" y="0"/>
                  </a:moveTo>
                  <a:lnTo>
                    <a:pt x="4200113" y="0"/>
                  </a:lnTo>
                  <a:cubicBezTo>
                    <a:pt x="4208395" y="0"/>
                    <a:pt x="4215109" y="6714"/>
                    <a:pt x="4215109" y="14996"/>
                  </a:cubicBezTo>
                  <a:lnTo>
                    <a:pt x="4215109" y="394859"/>
                  </a:lnTo>
                  <a:cubicBezTo>
                    <a:pt x="4215109" y="403141"/>
                    <a:pt x="4208395" y="409855"/>
                    <a:pt x="4200113" y="409855"/>
                  </a:cubicBezTo>
                  <a:lnTo>
                    <a:pt x="14996" y="409855"/>
                  </a:lnTo>
                  <a:cubicBezTo>
                    <a:pt x="6714" y="409855"/>
                    <a:pt x="0" y="403141"/>
                    <a:pt x="0" y="394859"/>
                  </a:cubicBezTo>
                  <a:lnTo>
                    <a:pt x="0" y="14996"/>
                  </a:lnTo>
                  <a:cubicBezTo>
                    <a:pt x="0" y="6714"/>
                    <a:pt x="6714" y="0"/>
                    <a:pt x="14996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15109" cy="447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62221" y="0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>
            <a:hlinkClick r:id="rId6" tooltip="https://drive.google.com/drive/folders/1WKOpT3rHYnw0l3pttecY-kBQ71z45pNP"/>
          </p:cNvPr>
          <p:cNvSpPr/>
          <p:nvPr/>
        </p:nvSpPr>
        <p:spPr>
          <a:xfrm flipH="false" flipV="false" rot="0">
            <a:off x="4359388" y="5435618"/>
            <a:ext cx="2514321" cy="2514321"/>
          </a:xfrm>
          <a:custGeom>
            <a:avLst/>
            <a:gdLst/>
            <a:ahLst/>
            <a:cxnLst/>
            <a:rect r="r" b="b" t="t" l="l"/>
            <a:pathLst>
              <a:path h="2514321" w="2514321">
                <a:moveTo>
                  <a:pt x="0" y="0"/>
                </a:moveTo>
                <a:lnTo>
                  <a:pt x="2514321" y="0"/>
                </a:lnTo>
                <a:lnTo>
                  <a:pt x="2514321" y="2514320"/>
                </a:lnTo>
                <a:lnTo>
                  <a:pt x="0" y="25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2950566" y="3843308"/>
            <a:ext cx="5502813" cy="4409129"/>
          </a:xfrm>
          <a:custGeom>
            <a:avLst/>
            <a:gdLst/>
            <a:ahLst/>
            <a:cxnLst/>
            <a:rect r="r" b="b" t="t" l="l"/>
            <a:pathLst>
              <a:path h="4409129" w="5502813">
                <a:moveTo>
                  <a:pt x="5502812" y="0"/>
                </a:moveTo>
                <a:lnTo>
                  <a:pt x="0" y="0"/>
                </a:lnTo>
                <a:lnTo>
                  <a:pt x="0" y="4409129"/>
                </a:lnTo>
                <a:lnTo>
                  <a:pt x="5502812" y="4409129"/>
                </a:lnTo>
                <a:lnTo>
                  <a:pt x="550281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9193" y="218035"/>
            <a:ext cx="15013782" cy="154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Defecto Reportado:</a:t>
            </a:r>
            <a:r>
              <a:rPr lang="en-US" sz="29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El sistema permite crear una cuenta y acceder a la pantalla de inicio usando un formato de correo electrónico válido, pero que no existe (inventado).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658374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90823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2354" y="6362010"/>
            <a:ext cx="5216938" cy="51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←   Link de evidencia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0430" y="1889028"/>
            <a:ext cx="13602937" cy="103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Problemas de Recuperación: Si el usuario olvida su contraseña, no podrá recuperarla, ya que el correo no es real, perdiendo el acceso a la cuenta.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2882" y="3237252"/>
            <a:ext cx="14859090" cy="103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Riesgo de Cuentas Falsas (Bots): Facilita que bots o usuarios malintencionados creen cuentas masivas, inflando métricas o propagando spam.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40626" y="-4690175"/>
            <a:ext cx="12102391" cy="121023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55250" y="-2638494"/>
            <a:ext cx="8803317" cy="88033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47701" y="8755368"/>
            <a:ext cx="16208667" cy="1547454"/>
            <a:chOff x="0" y="0"/>
            <a:chExt cx="4268949" cy="407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8950" cy="407560"/>
            </a:xfrm>
            <a:custGeom>
              <a:avLst/>
              <a:gdLst/>
              <a:ahLst/>
              <a:cxnLst/>
              <a:rect r="r" b="b" t="t" l="l"/>
              <a:pathLst>
                <a:path h="407560" w="4268950">
                  <a:moveTo>
                    <a:pt x="14807" y="0"/>
                  </a:moveTo>
                  <a:lnTo>
                    <a:pt x="4254143" y="0"/>
                  </a:lnTo>
                  <a:cubicBezTo>
                    <a:pt x="4258070" y="0"/>
                    <a:pt x="4261836" y="1560"/>
                    <a:pt x="4264613" y="4337"/>
                  </a:cubicBezTo>
                  <a:cubicBezTo>
                    <a:pt x="4267390" y="7114"/>
                    <a:pt x="4268950" y="10880"/>
                    <a:pt x="4268950" y="14807"/>
                  </a:cubicBezTo>
                  <a:lnTo>
                    <a:pt x="4268950" y="392753"/>
                  </a:lnTo>
                  <a:cubicBezTo>
                    <a:pt x="4268950" y="400931"/>
                    <a:pt x="4262320" y="407560"/>
                    <a:pt x="4254143" y="407560"/>
                  </a:cubicBezTo>
                  <a:lnTo>
                    <a:pt x="14807" y="407560"/>
                  </a:lnTo>
                  <a:cubicBezTo>
                    <a:pt x="6629" y="407560"/>
                    <a:pt x="0" y="400931"/>
                    <a:pt x="0" y="392753"/>
                  </a:cubicBezTo>
                  <a:lnTo>
                    <a:pt x="0" y="14807"/>
                  </a:lnTo>
                  <a:cubicBezTo>
                    <a:pt x="0" y="6629"/>
                    <a:pt x="6629" y="0"/>
                    <a:pt x="14807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68949" cy="445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62221" y="0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>
            <a:hlinkClick r:id="rId6" tooltip="https://drive.google.com/drive/folders/1JUc0Yzq7B2GvGGf1R5lIUAypbnqj6fZ4"/>
          </p:cNvPr>
          <p:cNvSpPr/>
          <p:nvPr/>
        </p:nvSpPr>
        <p:spPr>
          <a:xfrm flipH="false" flipV="false" rot="0">
            <a:off x="4359388" y="5435618"/>
            <a:ext cx="2514321" cy="2514321"/>
          </a:xfrm>
          <a:custGeom>
            <a:avLst/>
            <a:gdLst/>
            <a:ahLst/>
            <a:cxnLst/>
            <a:rect r="r" b="b" t="t" l="l"/>
            <a:pathLst>
              <a:path h="2514321" w="2514321">
                <a:moveTo>
                  <a:pt x="0" y="0"/>
                </a:moveTo>
                <a:lnTo>
                  <a:pt x="2514321" y="0"/>
                </a:lnTo>
                <a:lnTo>
                  <a:pt x="2514321" y="2514320"/>
                </a:lnTo>
                <a:lnTo>
                  <a:pt x="0" y="25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04142" y="2777075"/>
            <a:ext cx="4707915" cy="5317086"/>
          </a:xfrm>
          <a:custGeom>
            <a:avLst/>
            <a:gdLst/>
            <a:ahLst/>
            <a:cxnLst/>
            <a:rect r="r" b="b" t="t" l="l"/>
            <a:pathLst>
              <a:path h="5317086" w="4707915">
                <a:moveTo>
                  <a:pt x="0" y="0"/>
                </a:moveTo>
                <a:lnTo>
                  <a:pt x="4707915" y="0"/>
                </a:lnTo>
                <a:lnTo>
                  <a:pt x="4707915" y="5317086"/>
                </a:lnTo>
                <a:lnTo>
                  <a:pt x="0" y="5317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7701" y="1868861"/>
            <a:ext cx="17451006" cy="178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1"/>
              </a:lnSpc>
            </a:pPr>
            <a:r>
              <a:rPr lang="en-US" sz="33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Defecto Reportado: </a:t>
            </a:r>
            <a:r>
              <a:rPr lang="en-US" sz="33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El sistema</a:t>
            </a:r>
            <a:r>
              <a:rPr lang="en-US" sz="33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no envía un email de confirmación ni alerta de uso.</a:t>
            </a:r>
          </a:p>
          <a:p>
            <a:pPr algn="just">
              <a:lnSpc>
                <a:spcPts val="4651"/>
              </a:lnSpc>
            </a:pPr>
          </a:p>
          <a:p>
            <a:pPr algn="just">
              <a:lnSpc>
                <a:spcPts val="4651"/>
              </a:lnSpc>
            </a:pPr>
            <a:r>
              <a:rPr lang="en-US" sz="33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               Afecta la seguridad y la recuperabilidad de la cuenta.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658374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90823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2354" y="6362010"/>
            <a:ext cx="5216938" cy="51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1"/>
              </a:lnSpc>
            </a:pPr>
            <a:r>
              <a:rPr lang="en-US" sz="2922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←   Link de evidencia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40626" y="-4690175"/>
            <a:ext cx="12102391" cy="121023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62221" y="-2394898"/>
            <a:ext cx="8803317" cy="88033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32751" y="8774291"/>
            <a:ext cx="16423618" cy="1512709"/>
            <a:chOff x="0" y="0"/>
            <a:chExt cx="4325562" cy="3984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25562" cy="398409"/>
            </a:xfrm>
            <a:custGeom>
              <a:avLst/>
              <a:gdLst/>
              <a:ahLst/>
              <a:cxnLst/>
              <a:rect r="r" b="b" t="t" l="l"/>
              <a:pathLst>
                <a:path h="398409" w="4325562">
                  <a:moveTo>
                    <a:pt x="14613" y="0"/>
                  </a:moveTo>
                  <a:lnTo>
                    <a:pt x="4310949" y="0"/>
                  </a:lnTo>
                  <a:cubicBezTo>
                    <a:pt x="4314825" y="0"/>
                    <a:pt x="4318541" y="1540"/>
                    <a:pt x="4321282" y="4280"/>
                  </a:cubicBezTo>
                  <a:cubicBezTo>
                    <a:pt x="4324023" y="7021"/>
                    <a:pt x="4325562" y="10737"/>
                    <a:pt x="4325562" y="14613"/>
                  </a:cubicBezTo>
                  <a:lnTo>
                    <a:pt x="4325562" y="383796"/>
                  </a:lnTo>
                  <a:cubicBezTo>
                    <a:pt x="4325562" y="391866"/>
                    <a:pt x="4319019" y="398409"/>
                    <a:pt x="4310949" y="398409"/>
                  </a:cubicBezTo>
                  <a:lnTo>
                    <a:pt x="14613" y="398409"/>
                  </a:lnTo>
                  <a:cubicBezTo>
                    <a:pt x="6542" y="398409"/>
                    <a:pt x="0" y="391866"/>
                    <a:pt x="0" y="383796"/>
                  </a:cubicBezTo>
                  <a:lnTo>
                    <a:pt x="0" y="14613"/>
                  </a:lnTo>
                  <a:cubicBezTo>
                    <a:pt x="0" y="6542"/>
                    <a:pt x="6542" y="0"/>
                    <a:pt x="14613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25562" cy="436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62221" y="0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314102" y="1430444"/>
            <a:ext cx="5659797" cy="1000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71"/>
              </a:lnSpc>
            </a:pPr>
            <a:r>
              <a:rPr lang="en-US" sz="5622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58374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a: público profesional.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0823" y="9707289"/>
            <a:ext cx="11690017" cy="4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Presentado por: Silvina Vargas.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2751" y="2820526"/>
            <a:ext cx="17532853" cy="499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3596">
                <a:solidFill>
                  <a:srgbClr val="000C74"/>
                </a:solidFill>
                <a:latin typeface="Open Sans"/>
                <a:ea typeface="Open Sans"/>
                <a:cs typeface="Open Sans"/>
                <a:sym typeface="Open Sans"/>
              </a:rPr>
              <a:t>Se le debe dar prioridad inmediata sobre todos a los bugs encontrados en el módulo de registro, podría ser: </a:t>
            </a:r>
          </a:p>
          <a:p>
            <a:pPr algn="ctr">
              <a:lnSpc>
                <a:spcPts val="5035"/>
              </a:lnSpc>
            </a:pPr>
          </a:p>
          <a:p>
            <a:pPr algn="ctr" marL="776545" indent="-388273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000C74"/>
                </a:solidFill>
                <a:latin typeface="Open Sans"/>
                <a:ea typeface="Open Sans"/>
                <a:cs typeface="Open Sans"/>
                <a:sym typeface="Open Sans"/>
              </a:rPr>
              <a:t> Implementando una validación de formato de email más estricta para reducir la entrada de datos basura.</a:t>
            </a:r>
          </a:p>
          <a:p>
            <a:pPr algn="ctr" marL="776545" indent="-388273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000C74"/>
                </a:solidFill>
                <a:latin typeface="Open Sans"/>
                <a:ea typeface="Open Sans"/>
                <a:cs typeface="Open Sans"/>
                <a:sym typeface="Open Sans"/>
              </a:rPr>
              <a:t>Considerar la implementación de un mecanismo de verificación secundario, para asegurar la recuperabilidad de la cuenta.</a:t>
            </a:r>
          </a:p>
          <a:p>
            <a:pPr algn="ctr">
              <a:lnSpc>
                <a:spcPts val="433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DAG3fu1XjrQ</dc:identifier>
  <dcterms:modified xsi:type="dcterms:W3CDTF">2011-08-01T06:04:30Z</dcterms:modified>
  <cp:revision>1</cp:revision>
  <dc:title>Presentación</dc:title>
</cp:coreProperties>
</file>